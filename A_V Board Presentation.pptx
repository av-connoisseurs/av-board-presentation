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04ab4927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04ab4927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04ab4927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04ab4927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04ab4927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04ab4927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b04b14128b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b04b14128b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050d1f6f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050d1f6f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04b14128b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04b14128b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04ab4927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04ab4927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04ab4927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04ab4927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04b14128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04b14128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Relationship Id="rId4" Type="http://schemas.openxmlformats.org/officeDocument/2006/relationships/image" Target="../media/image6.jpg"/><Relationship Id="rId5" Type="http://schemas.openxmlformats.org/officeDocument/2006/relationships/image" Target="../media/image10.jpg"/><Relationship Id="rId6" Type="http://schemas.openxmlformats.org/officeDocument/2006/relationships/image" Target="../media/image7.jpg"/><Relationship Id="rId7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12.jpg"/><Relationship Id="rId5" Type="http://schemas.openxmlformats.org/officeDocument/2006/relationships/image" Target="../media/image11.jpg"/><Relationship Id="rId6" Type="http://schemas.openxmlformats.org/officeDocument/2006/relationships/image" Target="../media/image4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9.jpg"/><Relationship Id="rId5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3.jpg"/><Relationship Id="rId5" Type="http://schemas.openxmlformats.org/officeDocument/2006/relationships/image" Target="../media/image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Relationship Id="rId6" Type="http://schemas.openxmlformats.org/officeDocument/2006/relationships/image" Target="../media/image15.png"/><Relationship Id="rId7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4275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/>
              <a:t>A/V Board</a:t>
            </a:r>
            <a:endParaRPr b="1" sz="55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517050"/>
            <a:ext cx="8520600" cy="10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00"/>
              <a:t>BYUI Fall 2025</a:t>
            </a:r>
            <a:br>
              <a:rPr lang="en"/>
            </a:br>
            <a:r>
              <a:rPr lang="en" sz="1500"/>
              <a:t>Embedded Systems ECEN361</a:t>
            </a:r>
            <a:endParaRPr sz="1500"/>
          </a:p>
        </p:txBody>
      </p:sp>
      <p:sp>
        <p:nvSpPr>
          <p:cNvPr id="56" name="Google Shape;56;p13"/>
          <p:cNvSpPr txBox="1"/>
          <p:nvPr/>
        </p:nvSpPr>
        <p:spPr>
          <a:xfrm>
            <a:off x="497100" y="4455350"/>
            <a:ext cx="8149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</a:rPr>
              <a:t>Matthew Spotten, Aidan Pratt, Jared Wightman, Ryan Christensen</a:t>
            </a:r>
            <a:endParaRPr sz="16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Goal</a:t>
            </a:r>
            <a:endParaRPr b="1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an audio/video interface that can: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Control DMX lights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Use faders and key switches to select and control DMX RGBW lights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Connect to an external computer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Send inputs to computer (faders, potentiometers, key switches)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Take outputs from computer (DMX out, key lights, fader motors)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Offer an alternative solution to low-end lighting consoles on the market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Roles</a:t>
            </a:r>
            <a:endParaRPr b="1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Primary Roles: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Matthew: Design and test hardware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Aidan: Manage orders and implement Ethernet/external connectivity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Jared: Program firmware and demo programs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Ryan: Design case and physical element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6799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Secondary Roles: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Everyone: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Assemble and solder components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Assist other team members with debugging and research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Create presentation materials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8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Weeks </a:t>
            </a:r>
            <a:r>
              <a:rPr b="1" lang="en"/>
              <a:t>1–4: Design Hardware, Write RS485 Firmware</a:t>
            </a:r>
            <a:endParaRPr b="1"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3730200" cy="190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 PCBs: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Primary board (STM, ports, main mounting chassis, etc…)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Switchboard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RS485 DMX daughterboard</a:t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8125" y="1346575"/>
            <a:ext cx="2359700" cy="219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20251213_113024.jpg"/>
          <p:cNvPicPr preferRelativeResize="0"/>
          <p:nvPr/>
        </p:nvPicPr>
        <p:blipFill rotWithShape="1">
          <a:blip r:embed="rId4">
            <a:alphaModFix/>
          </a:blip>
          <a:srcRect b="10728" l="9603" r="3726" t="10038"/>
          <a:stretch/>
        </p:blipFill>
        <p:spPr>
          <a:xfrm>
            <a:off x="419300" y="3192825"/>
            <a:ext cx="2493450" cy="1709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 title="20251213_113042.jpg"/>
          <p:cNvPicPr preferRelativeResize="0"/>
          <p:nvPr/>
        </p:nvPicPr>
        <p:blipFill rotWithShape="1">
          <a:blip r:embed="rId5">
            <a:alphaModFix/>
          </a:blip>
          <a:srcRect b="29815" l="27547" r="34439" t="43014"/>
          <a:stretch/>
        </p:blipFill>
        <p:spPr>
          <a:xfrm>
            <a:off x="7602050" y="4103587"/>
            <a:ext cx="1294449" cy="693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 title="20251213_113052.jpg"/>
          <p:cNvPicPr preferRelativeResize="0"/>
          <p:nvPr/>
        </p:nvPicPr>
        <p:blipFill rotWithShape="1">
          <a:blip r:embed="rId6">
            <a:alphaModFix/>
          </a:blip>
          <a:srcRect b="37405" l="10343" r="6579" t="39478"/>
          <a:stretch/>
        </p:blipFill>
        <p:spPr>
          <a:xfrm>
            <a:off x="3090800" y="3998425"/>
            <a:ext cx="4333199" cy="904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 rotWithShape="1">
          <a:blip r:embed="rId7">
            <a:alphaModFix/>
          </a:blip>
          <a:srcRect b="0" l="0" r="0" t="17695"/>
          <a:stretch/>
        </p:blipFill>
        <p:spPr>
          <a:xfrm>
            <a:off x="6663389" y="1346575"/>
            <a:ext cx="2233111" cy="2198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768100" cy="9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00"/>
              <a:t>Weeks 5–8: Solder on Components, Test Boards, </a:t>
            </a:r>
            <a:r>
              <a:rPr b="1" lang="en" sz="2500"/>
              <a:t>Diagnose H/W Issues</a:t>
            </a:r>
            <a:endParaRPr b="1" sz="2500"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370500"/>
            <a:ext cx="8520600" cy="319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7" title="20251203_202727.jpg"/>
          <p:cNvPicPr preferRelativeResize="0"/>
          <p:nvPr/>
        </p:nvPicPr>
        <p:blipFill rotWithShape="1">
          <a:blip r:embed="rId3">
            <a:alphaModFix/>
          </a:blip>
          <a:srcRect b="36438" l="27734" r="25994" t="35022"/>
          <a:stretch/>
        </p:blipFill>
        <p:spPr>
          <a:xfrm>
            <a:off x="3798287" y="1366925"/>
            <a:ext cx="1794924" cy="1476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 title="20251203_192518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2950" y="2995210"/>
            <a:ext cx="2098089" cy="1573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 title="20251120_153357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3525" y="1340500"/>
            <a:ext cx="2398775" cy="3198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 title="20251213_153123.jpg"/>
          <p:cNvPicPr preferRelativeResize="0"/>
          <p:nvPr/>
        </p:nvPicPr>
        <p:blipFill rotWithShape="1">
          <a:blip r:embed="rId6">
            <a:alphaModFix/>
          </a:blip>
          <a:srcRect b="11173" l="20738" r="10158" t="20864"/>
          <a:stretch/>
        </p:blipFill>
        <p:spPr>
          <a:xfrm>
            <a:off x="311700" y="1366925"/>
            <a:ext cx="2398764" cy="3145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9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500"/>
              <a:t>Weeks 9–12: Perform Surgery, Implement/Write Firmware, Begin Design Case, Begin Port Drivers</a:t>
            </a:r>
            <a:endParaRPr b="1" sz="2500"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311700" y="1355225"/>
            <a:ext cx="8520600" cy="32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7" name="Google Shape;97;p18" title="20251213_155757.jpg"/>
          <p:cNvPicPr preferRelativeResize="0"/>
          <p:nvPr/>
        </p:nvPicPr>
        <p:blipFill rotWithShape="1">
          <a:blip r:embed="rId3">
            <a:alphaModFix/>
          </a:blip>
          <a:srcRect b="11171" l="0" r="0" t="20414"/>
          <a:stretch/>
        </p:blipFill>
        <p:spPr>
          <a:xfrm>
            <a:off x="311700" y="1355225"/>
            <a:ext cx="3522862" cy="3213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 title="20251213_160047.jpg"/>
          <p:cNvPicPr preferRelativeResize="0"/>
          <p:nvPr/>
        </p:nvPicPr>
        <p:blipFill rotWithShape="1">
          <a:blip r:embed="rId4">
            <a:alphaModFix/>
          </a:blip>
          <a:srcRect b="27531" l="5281" r="1399" t="34341"/>
          <a:stretch/>
        </p:blipFill>
        <p:spPr>
          <a:xfrm>
            <a:off x="4195125" y="1355225"/>
            <a:ext cx="4637174" cy="14209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8" title="20251130_143340.jpg"/>
          <p:cNvPicPr preferRelativeResize="0"/>
          <p:nvPr/>
        </p:nvPicPr>
        <p:blipFill rotWithShape="1">
          <a:blip r:embed="rId5">
            <a:alphaModFix/>
          </a:blip>
          <a:srcRect b="0" l="16165" r="17472" t="77032"/>
          <a:stretch/>
        </p:blipFill>
        <p:spPr>
          <a:xfrm>
            <a:off x="4822700" y="3008200"/>
            <a:ext cx="3382026" cy="1560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9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Weeks 12–13: Finish </a:t>
            </a:r>
            <a:r>
              <a:rPr b="1" lang="en" sz="2500"/>
              <a:t>Implement External Drivers, Finish Design Case, Final Assembly</a:t>
            </a:r>
            <a:endParaRPr b="1" sz="2500"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390400"/>
            <a:ext cx="8520600" cy="31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9" title="20251213_112805.jpg"/>
          <p:cNvPicPr preferRelativeResize="0"/>
          <p:nvPr/>
        </p:nvPicPr>
        <p:blipFill rotWithShape="1">
          <a:blip r:embed="rId3">
            <a:alphaModFix/>
          </a:blip>
          <a:srcRect b="6532" l="16774" r="15584" t="10363"/>
          <a:stretch/>
        </p:blipFill>
        <p:spPr>
          <a:xfrm>
            <a:off x="6509275" y="1026350"/>
            <a:ext cx="1618427" cy="14913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20251213_112842.jpg"/>
          <p:cNvPicPr preferRelativeResize="0"/>
          <p:nvPr/>
        </p:nvPicPr>
        <p:blipFill rotWithShape="1">
          <a:blip r:embed="rId4">
            <a:alphaModFix/>
          </a:blip>
          <a:srcRect b="32406" l="0" r="0" t="18484"/>
          <a:stretch/>
        </p:blipFill>
        <p:spPr>
          <a:xfrm>
            <a:off x="3731125" y="2690000"/>
            <a:ext cx="5101174" cy="187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 title="20251213_112823.jpg"/>
          <p:cNvPicPr preferRelativeResize="0"/>
          <p:nvPr/>
        </p:nvPicPr>
        <p:blipFill rotWithShape="1">
          <a:blip r:embed="rId5">
            <a:alphaModFix/>
          </a:blip>
          <a:srcRect b="3694" l="13701" r="13182" t="6852"/>
          <a:stretch/>
        </p:blipFill>
        <p:spPr>
          <a:xfrm>
            <a:off x="311700" y="1620252"/>
            <a:ext cx="3213599" cy="29486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Results</a:t>
            </a:r>
            <a:endParaRPr b="1"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125095" y="0"/>
            <a:ext cx="2607127" cy="1742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64876" y="445025"/>
            <a:ext cx="2607124" cy="1479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698" y="2166218"/>
            <a:ext cx="4260301" cy="240265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14700" y="445025"/>
            <a:ext cx="4017597" cy="2275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14700" y="2925150"/>
            <a:ext cx="2902001" cy="1643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Future Outlook</a:t>
            </a:r>
            <a:endParaRPr b="1"/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Update primary schematic to include hardware fixes (no more surgeries)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Modularize sections of Primary PCB, make expandable to link with other consoles and add more rows of faders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Adjust PCB layer </a:t>
            </a:r>
            <a:r>
              <a:rPr lang="en"/>
              <a:t>heights</a:t>
            </a:r>
            <a:r>
              <a:rPr lang="en"/>
              <a:t> for switches and potentiometers for flush surface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Pick higher-quality motors and switches, true DMX connectors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Implement DMX receiving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on-board audio processing + I/O for a complete standalone mode, rather than all being done on separate computer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more external connectivity and drivers for better software interaction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Add more demo animations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Market to consumers: schools, community theaters, churches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Software/Hardware</a:t>
            </a:r>
            <a:endParaRPr b="1"/>
          </a:p>
        </p:txBody>
      </p:sp>
      <p:sp>
        <p:nvSpPr>
          <p:cNvPr id="131" name="Google Shape;131;p22"/>
          <p:cNvSpPr txBox="1"/>
          <p:nvPr>
            <p:ph idx="1" type="body"/>
          </p:nvPr>
        </p:nvSpPr>
        <p:spPr>
          <a:xfrm>
            <a:off x="311700" y="1152475"/>
            <a:ext cx="4260300" cy="177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33"/>
              <a:t>Software: </a:t>
            </a:r>
            <a:endParaRPr sz="2133"/>
          </a:p>
          <a:p>
            <a:pPr indent="-34377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2133"/>
              <a:t>STM32CubeIDE</a:t>
            </a:r>
            <a:endParaRPr sz="2133"/>
          </a:p>
          <a:p>
            <a:pPr indent="-3437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133"/>
              <a:t>STM32CubeMX</a:t>
            </a:r>
            <a:endParaRPr sz="2133"/>
          </a:p>
          <a:p>
            <a:pPr indent="-34377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2133"/>
              <a:t>KiCad + Plugins</a:t>
            </a:r>
            <a:endParaRPr sz="2133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2"/>
          <p:cNvSpPr txBox="1"/>
          <p:nvPr>
            <p:ph idx="1" type="body"/>
          </p:nvPr>
        </p:nvSpPr>
        <p:spPr>
          <a:xfrm>
            <a:off x="4738600" y="1152475"/>
            <a:ext cx="4260300" cy="35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Notable Components: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STM32L476ZTG6 MCU chip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WS2812B-2020 LEDs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TCA9555PWR I2C chip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W51005-L ethernet chip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B10K potentiometers (sliders and knobs)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RF-33TA-11360 motors</a:t>
            </a:r>
            <a:endParaRPr/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311700" y="2664250"/>
            <a:ext cx="4260300" cy="20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13"/>
              <a:t>Protocols:</a:t>
            </a:r>
            <a:endParaRPr sz="3813"/>
          </a:p>
          <a:p>
            <a:pPr indent="-343616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" sz="3813"/>
              <a:t>UART → RS485 (DMX lights)</a:t>
            </a:r>
            <a:endParaRPr sz="3813"/>
          </a:p>
          <a:p>
            <a:pPr indent="-34361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3813"/>
              <a:t>SPI → WS2812 (Switch LEDs)</a:t>
            </a:r>
            <a:endParaRPr sz="3813"/>
          </a:p>
          <a:p>
            <a:pPr indent="-34361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3813"/>
              <a:t>I2C (Key switches)</a:t>
            </a:r>
            <a:endParaRPr sz="3813"/>
          </a:p>
          <a:p>
            <a:pPr indent="-34361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" sz="3813"/>
              <a:t>FMC (Ethernet)</a:t>
            </a:r>
            <a:endParaRPr sz="3813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